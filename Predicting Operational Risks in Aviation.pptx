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Lato" panose="020F0502020204030203" pitchFamily="34" charset="0"/>
      <p:regular r:id="rId15"/>
      <p:bold r:id="rId16"/>
      <p:italic r:id="rId17"/>
      <p:boldItalic r:id="rId18"/>
    </p:embeddedFont>
    <p:embeddedFont>
      <p:font typeface="Poppins"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1986855"/>
            <a:ext cx="11049000" cy="2884140"/>
          </a:xfrm>
          <a:prstGeom prst="rect">
            <a:avLst/>
          </a:prstGeom>
          <a:noFill/>
          <a:ln>
            <a:noFill/>
          </a:ln>
        </p:spPr>
      </p:pic>
      <p:sp>
        <p:nvSpPr>
          <p:cNvPr id="86" name="Google Shape;86;p13"/>
          <p:cNvSpPr txBox="1"/>
          <p:nvPr/>
        </p:nvSpPr>
        <p:spPr>
          <a:xfrm>
            <a:off x="905351" y="2567880"/>
            <a:ext cx="10381297"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FFFFFF"/>
                </a:solidFill>
                <a:latin typeface="Poppins"/>
                <a:ea typeface="Poppins"/>
                <a:cs typeface="Poppins"/>
                <a:sym typeface="Poppins"/>
              </a:rPr>
              <a:t>FLIGHT </a:t>
            </a:r>
            <a:r>
              <a:rPr lang="en-US" sz="6000" b="1" i="0" u="none" strike="noStrike" cap="none">
                <a:solidFill>
                  <a:srgbClr val="00A3AD"/>
                </a:solidFill>
                <a:latin typeface="Poppins"/>
                <a:ea typeface="Poppins"/>
                <a:cs typeface="Poppins"/>
                <a:sym typeface="Poppins"/>
              </a:rPr>
              <a:t>RISK</a:t>
            </a:r>
            <a:endParaRPr/>
          </a:p>
        </p:txBody>
      </p:sp>
      <p:sp>
        <p:nvSpPr>
          <p:cNvPr id="87" name="Google Shape;87;p13"/>
          <p:cNvSpPr txBox="1"/>
          <p:nvPr/>
        </p:nvSpPr>
        <p:spPr>
          <a:xfrm>
            <a:off x="1152525" y="3596580"/>
            <a:ext cx="988695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F8FAFC"/>
                </a:solidFill>
                <a:latin typeface="Lato"/>
                <a:ea typeface="Lato"/>
                <a:cs typeface="Lato"/>
                <a:sym typeface="Lato"/>
              </a:rPr>
              <a:t>Predictive Intelligence for Disruptive Travel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3" name="Google Shape;93;p14"/>
          <p:cNvSpPr txBox="1"/>
          <p:nvPr/>
        </p:nvSpPr>
        <p:spPr>
          <a:xfrm>
            <a:off x="295275" y="571500"/>
            <a:ext cx="11601450" cy="1028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00A3AD"/>
                </a:solidFill>
                <a:latin typeface="Poppins"/>
                <a:ea typeface="Poppins"/>
                <a:cs typeface="Poppins"/>
                <a:sym typeface="Poppins"/>
              </a:rPr>
              <a:t>THE CHALLENGE</a:t>
            </a:r>
            <a:endParaRPr/>
          </a:p>
        </p:txBody>
      </p:sp>
      <p:sp>
        <p:nvSpPr>
          <p:cNvPr id="94" name="Google Shape;94;p14"/>
          <p:cNvSpPr/>
          <p:nvPr/>
        </p:nvSpPr>
        <p:spPr>
          <a:xfrm>
            <a:off x="5381625" y="1981200"/>
            <a:ext cx="1428750" cy="76200"/>
          </a:xfrm>
          <a:prstGeom prst="rect">
            <a:avLst/>
          </a:prstGeom>
          <a:solidFill>
            <a:srgbClr val="002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2286000" y="2343150"/>
            <a:ext cx="7620000"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334155"/>
                </a:solidFill>
                <a:latin typeface="Lato"/>
                <a:ea typeface="Lato"/>
                <a:cs typeface="Lato"/>
                <a:sym typeface="Lato"/>
              </a:rPr>
              <a:t>Understanding the friction in modern aviation data and the cost of traveler uncertainty.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1" name="Google Shape;101;p15" descr="image.png"/>
          <p:cNvPicPr preferRelativeResize="0"/>
          <p:nvPr/>
        </p:nvPicPr>
        <p:blipFill rotWithShape="1">
          <a:blip r:embed="rId4">
            <a:alphaModFix/>
          </a:blip>
          <a:srcRect/>
          <a:stretch/>
        </p:blipFill>
        <p:spPr>
          <a:xfrm>
            <a:off x="6381750" y="1776412"/>
            <a:ext cx="5238750" cy="4286250"/>
          </a:xfrm>
          <a:prstGeom prst="rect">
            <a:avLst/>
          </a:prstGeom>
          <a:noFill/>
          <a:ln>
            <a:noFill/>
          </a:ln>
        </p:spPr>
      </p:pic>
      <p:sp>
        <p:nvSpPr>
          <p:cNvPr id="102" name="Google Shape;102;p15"/>
          <p:cNvSpPr txBox="1"/>
          <p:nvPr/>
        </p:nvSpPr>
        <p:spPr>
          <a:xfrm>
            <a:off x="571500" y="2400300"/>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Travelers currently face a significant information gap. Without the ability to assess the specific </a:t>
            </a:r>
            <a:r>
              <a:rPr lang="en-US" sz="1500" b="1" i="0" u="none" strike="noStrike" cap="none">
                <a:solidFill>
                  <a:srgbClr val="334155"/>
                </a:solidFill>
                <a:latin typeface="Lato"/>
                <a:ea typeface="Lato"/>
                <a:cs typeface="Lato"/>
                <a:sym typeface="Lato"/>
              </a:rPr>
              <a:t>risk of delays or cancellations</a:t>
            </a:r>
            <a:r>
              <a:rPr lang="en-US" sz="1500" b="0" i="0" u="none" strike="noStrike" cap="none">
                <a:solidFill>
                  <a:srgbClr val="334155"/>
                </a:solidFill>
                <a:latin typeface="Lato"/>
                <a:ea typeface="Lato"/>
                <a:cs typeface="Lato"/>
                <a:sym typeface="Lato"/>
              </a:rPr>
              <a:t>, decisions are made blindly.</a:t>
            </a:r>
            <a:endParaRPr/>
          </a:p>
        </p:txBody>
      </p:sp>
      <p:sp>
        <p:nvSpPr>
          <p:cNvPr id="103" name="Google Shape;103;p15"/>
          <p:cNvSpPr txBox="1"/>
          <p:nvPr/>
        </p:nvSpPr>
        <p:spPr>
          <a:xfrm>
            <a:off x="571500" y="3505200"/>
            <a:ext cx="5238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This lack of transparency is critical for:</a:t>
            </a:r>
            <a:endParaRPr/>
          </a:p>
        </p:txBody>
      </p:sp>
      <p:sp>
        <p:nvSpPr>
          <p:cNvPr id="105" name="Google Shape;105;p15"/>
          <p:cNvSpPr txBox="1"/>
          <p:nvPr/>
        </p:nvSpPr>
        <p:spPr>
          <a:xfrm>
            <a:off x="1000125" y="4000500"/>
            <a:ext cx="48101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High-stakes business travel requirements</a:t>
            </a:r>
            <a:endParaRPr/>
          </a:p>
        </p:txBody>
      </p:sp>
      <p:sp>
        <p:nvSpPr>
          <p:cNvPr id="106" name="Google Shape;106;p15"/>
          <p:cNvSpPr txBox="1"/>
          <p:nvPr/>
        </p:nvSpPr>
        <p:spPr>
          <a:xfrm>
            <a:off x="1000125" y="4543425"/>
            <a:ext cx="48101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Precise insurance underwriting decisions</a:t>
            </a:r>
            <a:endParaRPr/>
          </a:p>
        </p:txBody>
      </p:sp>
      <p:sp>
        <p:nvSpPr>
          <p:cNvPr id="107" name="Google Shape;107;p15"/>
          <p:cNvSpPr txBox="1"/>
          <p:nvPr/>
        </p:nvSpPr>
        <p:spPr>
          <a:xfrm>
            <a:off x="1000125" y="5086350"/>
            <a:ext cx="48101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Mitigating the high cost of disruptions</a:t>
            </a:r>
            <a:endParaRPr/>
          </a:p>
        </p:txBody>
      </p:sp>
      <p:pic>
        <p:nvPicPr>
          <p:cNvPr id="108" name="Google Shape;108;p15" descr="image.png"/>
          <p:cNvPicPr preferRelativeResize="0"/>
          <p:nvPr/>
        </p:nvPicPr>
        <p:blipFill rotWithShape="1">
          <a:blip r:embed="rId5">
            <a:alphaModFix/>
          </a:blip>
          <a:srcRect/>
          <a:stretch/>
        </p:blipFill>
        <p:spPr>
          <a:xfrm>
            <a:off x="571500" y="4038600"/>
            <a:ext cx="228600" cy="247650"/>
          </a:xfrm>
          <a:prstGeom prst="rect">
            <a:avLst/>
          </a:prstGeom>
          <a:noFill/>
          <a:ln>
            <a:noFill/>
          </a:ln>
        </p:spPr>
      </p:pic>
      <p:pic>
        <p:nvPicPr>
          <p:cNvPr id="109" name="Google Shape;109;p15" descr="image.png"/>
          <p:cNvPicPr preferRelativeResize="0"/>
          <p:nvPr/>
        </p:nvPicPr>
        <p:blipFill rotWithShape="1">
          <a:blip r:embed="rId6">
            <a:alphaModFix/>
          </a:blip>
          <a:srcRect/>
          <a:stretch/>
        </p:blipFill>
        <p:spPr>
          <a:xfrm>
            <a:off x="571500" y="4581525"/>
            <a:ext cx="228600" cy="247650"/>
          </a:xfrm>
          <a:prstGeom prst="rect">
            <a:avLst/>
          </a:prstGeom>
          <a:noFill/>
          <a:ln>
            <a:noFill/>
          </a:ln>
        </p:spPr>
      </p:pic>
      <p:pic>
        <p:nvPicPr>
          <p:cNvPr id="110" name="Google Shape;110;p15" descr="image.png"/>
          <p:cNvPicPr preferRelativeResize="0"/>
          <p:nvPr/>
        </p:nvPicPr>
        <p:blipFill rotWithShape="1">
          <a:blip r:embed="rId7">
            <a:alphaModFix/>
          </a:blip>
          <a:srcRect/>
          <a:stretch/>
        </p:blipFill>
        <p:spPr>
          <a:xfrm>
            <a:off x="571500" y="5124450"/>
            <a:ext cx="228600" cy="247650"/>
          </a:xfrm>
          <a:prstGeom prst="rect">
            <a:avLst/>
          </a:prstGeom>
          <a:noFill/>
          <a:ln>
            <a:noFill/>
          </a:ln>
        </p:spPr>
      </p:pic>
      <p:sp>
        <p:nvSpPr>
          <p:cNvPr id="111" name="Google Shape;111;p15"/>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a:ea typeface="Poppins"/>
                <a:cs typeface="Poppins"/>
                <a:sym typeface="Poppins"/>
              </a:rPr>
              <a:t>THE "BLIND PURCHASE" PROBLEM</a:t>
            </a:r>
            <a:endParaRPr/>
          </a:p>
        </p:txBody>
      </p:sp>
      <p:sp>
        <p:nvSpPr>
          <p:cNvPr id="112" name="Google Shape;112;p15"/>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pic>
        <p:nvPicPr>
          <p:cNvPr id="117" name="Google Shape;117;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8" name="Google Shape;118;p16" descr="image.png"/>
          <p:cNvPicPr preferRelativeResize="0"/>
          <p:nvPr/>
        </p:nvPicPr>
        <p:blipFill rotWithShape="1">
          <a:blip r:embed="rId4">
            <a:alphaModFix/>
          </a:blip>
          <a:srcRect/>
          <a:stretch/>
        </p:blipFill>
        <p:spPr>
          <a:xfrm>
            <a:off x="571500" y="1562100"/>
            <a:ext cx="4267200" cy="4762500"/>
          </a:xfrm>
          <a:prstGeom prst="rect">
            <a:avLst/>
          </a:prstGeom>
          <a:noFill/>
          <a:ln>
            <a:noFill/>
          </a:ln>
        </p:spPr>
      </p:pic>
      <p:pic>
        <p:nvPicPr>
          <p:cNvPr id="119" name="Google Shape;119;p16" descr="image.png"/>
          <p:cNvPicPr preferRelativeResize="0">
            <a:picLocks/>
          </p:cNvPicPr>
          <p:nvPr/>
        </p:nvPicPr>
        <p:blipFill rotWithShape="1">
          <a:blip r:embed="rId5">
            <a:alphaModFix/>
          </a:blip>
          <a:srcRect/>
          <a:stretch/>
        </p:blipFill>
        <p:spPr>
          <a:xfrm>
            <a:off x="571500" y="1562100"/>
            <a:ext cx="11048999" cy="2143125"/>
          </a:xfrm>
          <a:prstGeom prst="rect">
            <a:avLst/>
          </a:prstGeom>
          <a:noFill/>
          <a:ln>
            <a:noFill/>
          </a:ln>
        </p:spPr>
      </p:pic>
      <p:pic>
        <p:nvPicPr>
          <p:cNvPr id="120" name="Google Shape;120;p16" descr="image.png"/>
          <p:cNvPicPr preferRelativeResize="0">
            <a:picLocks/>
          </p:cNvPicPr>
          <p:nvPr/>
        </p:nvPicPr>
        <p:blipFill rotWithShape="1">
          <a:blip r:embed="rId6">
            <a:alphaModFix/>
          </a:blip>
          <a:srcRect/>
          <a:stretch/>
        </p:blipFill>
        <p:spPr>
          <a:xfrm>
            <a:off x="571499" y="3895725"/>
            <a:ext cx="11010901" cy="2447925"/>
          </a:xfrm>
          <a:prstGeom prst="rect">
            <a:avLst/>
          </a:prstGeom>
          <a:noFill/>
          <a:ln>
            <a:noFill/>
          </a:ln>
        </p:spPr>
      </p:pic>
      <p:sp>
        <p:nvSpPr>
          <p:cNvPr id="122" name="Google Shape;122;p16"/>
          <p:cNvSpPr txBox="1">
            <a:spLocks/>
          </p:cNvSpPr>
          <p:nvPr/>
        </p:nvSpPr>
        <p:spPr>
          <a:xfrm>
            <a:off x="1143000" y="2000250"/>
            <a:ext cx="592074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147"/>
                </a:solidFill>
                <a:latin typeface="Poppins"/>
                <a:ea typeface="Poppins"/>
                <a:cs typeface="Poppins"/>
                <a:sym typeface="Poppins"/>
              </a:rPr>
              <a:t>The Barrier</a:t>
            </a:r>
            <a:endParaRPr/>
          </a:p>
        </p:txBody>
      </p:sp>
      <p:sp>
        <p:nvSpPr>
          <p:cNvPr id="123" name="Google Shape;123;p16"/>
          <p:cNvSpPr txBox="1">
            <a:spLocks/>
          </p:cNvSpPr>
          <p:nvPr/>
        </p:nvSpPr>
        <p:spPr>
          <a:xfrm>
            <a:off x="1143000" y="2524125"/>
            <a:ext cx="10145486"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34155"/>
                </a:solidFill>
                <a:latin typeface="Lato"/>
                <a:ea typeface="Lato"/>
                <a:cs typeface="Lato"/>
                <a:sym typeface="Lato"/>
              </a:rPr>
              <a:t>Reliable flight data is often locked behind prohibitively expensive enterprise APIs or restricted to basic airport-level reporting.</a:t>
            </a:r>
            <a:endParaRPr dirty="0"/>
          </a:p>
        </p:txBody>
      </p:sp>
      <p:sp>
        <p:nvSpPr>
          <p:cNvPr id="124" name="Google Shape;124;p16"/>
          <p:cNvSpPr txBox="1">
            <a:spLocks/>
          </p:cNvSpPr>
          <p:nvPr/>
        </p:nvSpPr>
        <p:spPr>
          <a:xfrm>
            <a:off x="1143000" y="4333875"/>
            <a:ext cx="592074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147"/>
                </a:solidFill>
                <a:latin typeface="Poppins"/>
                <a:ea typeface="Poppins"/>
                <a:cs typeface="Poppins"/>
                <a:sym typeface="Poppins"/>
              </a:rPr>
              <a:t>The Opportunity</a:t>
            </a:r>
            <a:endParaRPr/>
          </a:p>
        </p:txBody>
      </p:sp>
      <p:sp>
        <p:nvSpPr>
          <p:cNvPr id="125" name="Google Shape;125;p16"/>
          <p:cNvSpPr txBox="1">
            <a:spLocks/>
          </p:cNvSpPr>
          <p:nvPr/>
        </p:nvSpPr>
        <p:spPr>
          <a:xfrm>
            <a:off x="1142999" y="4857750"/>
            <a:ext cx="9884229"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34155"/>
                </a:solidFill>
                <a:latin typeface="Lato"/>
                <a:ea typeface="Lato"/>
                <a:cs typeface="Lato"/>
                <a:sym typeface="Lato"/>
              </a:rPr>
              <a:t>Advanced Data Science enables us to build predictive models using granular, public datasets to estimate operational risk without relying on high-cost proprietary feeds.</a:t>
            </a:r>
            <a:endParaRPr dirty="0"/>
          </a:p>
        </p:txBody>
      </p:sp>
      <p:sp>
        <p:nvSpPr>
          <p:cNvPr id="126" name="Google Shape;126;p16"/>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a:ea typeface="Poppins"/>
                <a:cs typeface="Poppins"/>
                <a:sym typeface="Poppins"/>
              </a:rPr>
              <a:t>THE DATA ACCESSIBILITY GAP</a:t>
            </a:r>
            <a:endParaRPr/>
          </a:p>
        </p:txBody>
      </p:sp>
      <p:sp>
        <p:nvSpPr>
          <p:cNvPr id="127" name="Google Shape;127;p16"/>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1"/>
        <p:cNvGrpSpPr/>
        <p:nvPr/>
      </p:nvGrpSpPr>
      <p:grpSpPr>
        <a:xfrm>
          <a:off x="0" y="0"/>
          <a:ext cx="0" cy="0"/>
          <a:chOff x="0" y="0"/>
          <a:chExt cx="0" cy="0"/>
        </a:xfrm>
      </p:grpSpPr>
      <p:pic>
        <p:nvPicPr>
          <p:cNvPr id="132" name="Google Shape;13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3" name="Google Shape;133;p17"/>
          <p:cNvSpPr txBox="1"/>
          <p:nvPr/>
        </p:nvSpPr>
        <p:spPr>
          <a:xfrm>
            <a:off x="295275" y="571500"/>
            <a:ext cx="11601450" cy="1028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00A3AD"/>
                </a:solidFill>
                <a:latin typeface="Poppins"/>
                <a:ea typeface="Poppins"/>
                <a:cs typeface="Poppins"/>
                <a:sym typeface="Poppins"/>
              </a:rPr>
              <a:t>STRATEGIC APPROACH</a:t>
            </a:r>
            <a:endParaRPr/>
          </a:p>
        </p:txBody>
      </p:sp>
      <p:sp>
        <p:nvSpPr>
          <p:cNvPr id="134" name="Google Shape;134;p17"/>
          <p:cNvSpPr/>
          <p:nvPr/>
        </p:nvSpPr>
        <p:spPr>
          <a:xfrm>
            <a:off x="5381625" y="1981200"/>
            <a:ext cx="1428750" cy="76200"/>
          </a:xfrm>
          <a:prstGeom prst="rect">
            <a:avLst/>
          </a:prstGeom>
          <a:solidFill>
            <a:srgbClr val="002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7"/>
          <p:cNvSpPr txBox="1"/>
          <p:nvPr/>
        </p:nvSpPr>
        <p:spPr>
          <a:xfrm>
            <a:off x="2286000" y="2343150"/>
            <a:ext cx="7620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334155"/>
                </a:solidFill>
                <a:latin typeface="Lato"/>
                <a:ea typeface="Lato"/>
                <a:cs typeface="Lato"/>
                <a:sym typeface="Lato"/>
              </a:rPr>
              <a:t>Custom engineering to bypass data costs and maximize predictive accuracy.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pic>
        <p:nvPicPr>
          <p:cNvPr id="140" name="Google Shape;14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1" name="Google Shape;141;p18" descr="image.png"/>
          <p:cNvPicPr preferRelativeResize="0"/>
          <p:nvPr/>
        </p:nvPicPr>
        <p:blipFill rotWithShape="1">
          <a:blip r:embed="rId4">
            <a:alphaModFix/>
          </a:blip>
          <a:srcRect/>
          <a:stretch/>
        </p:blipFill>
        <p:spPr>
          <a:xfrm>
            <a:off x="6381750" y="1776412"/>
            <a:ext cx="5238750" cy="4286250"/>
          </a:xfrm>
          <a:prstGeom prst="rect">
            <a:avLst/>
          </a:prstGeom>
          <a:noFill/>
          <a:ln>
            <a:noFill/>
          </a:ln>
        </p:spPr>
      </p:pic>
      <p:sp>
        <p:nvSpPr>
          <p:cNvPr id="142" name="Google Shape;142;p18"/>
          <p:cNvSpPr txBox="1"/>
          <p:nvPr/>
        </p:nvSpPr>
        <p:spPr>
          <a:xfrm>
            <a:off x="571500" y="2300287"/>
            <a:ext cx="5500687"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02147"/>
                </a:solidFill>
                <a:latin typeface="Poppins"/>
                <a:ea typeface="Poppins"/>
                <a:cs typeface="Poppins"/>
                <a:sym typeface="Poppins"/>
              </a:rPr>
              <a:t>Web Scraping Alternative</a:t>
            </a:r>
            <a:endParaRPr/>
          </a:p>
        </p:txBody>
      </p:sp>
      <p:sp>
        <p:nvSpPr>
          <p:cNvPr id="143" name="Google Shape;143;p18"/>
          <p:cNvSpPr txBox="1"/>
          <p:nvPr/>
        </p:nvSpPr>
        <p:spPr>
          <a:xfrm>
            <a:off x="571500" y="2767012"/>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We developed a </a:t>
            </a:r>
            <a:r>
              <a:rPr lang="en-US" sz="1500" b="1" i="0" u="none" strike="noStrike" cap="none">
                <a:solidFill>
                  <a:srgbClr val="334155"/>
                </a:solidFill>
                <a:latin typeface="Lato"/>
                <a:ea typeface="Lato"/>
                <a:cs typeface="Lato"/>
                <a:sym typeface="Lato"/>
              </a:rPr>
              <a:t>custom Python scraper</a:t>
            </a:r>
            <a:r>
              <a:rPr lang="en-US" sz="1500" b="0" i="0" u="none" strike="noStrike" cap="none">
                <a:solidFill>
                  <a:srgbClr val="334155"/>
                </a:solidFill>
                <a:latin typeface="Lato"/>
                <a:ea typeface="Lato"/>
                <a:cs typeface="Lato"/>
                <a:sym typeface="Lato"/>
              </a:rPr>
              <a:t> to extract raw historical records directly from the UK Civil Aviation Authority (CAA), effectively bypassing expensive commercial APIs.</a:t>
            </a:r>
            <a:endParaRPr/>
          </a:p>
        </p:txBody>
      </p:sp>
      <p:sp>
        <p:nvSpPr>
          <p:cNvPr id="144" name="Google Shape;144;p18"/>
          <p:cNvSpPr txBox="1"/>
          <p:nvPr/>
        </p:nvSpPr>
        <p:spPr>
          <a:xfrm>
            <a:off x="571500" y="3967162"/>
            <a:ext cx="5500687"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02147"/>
                </a:solidFill>
                <a:latin typeface="Poppins"/>
                <a:ea typeface="Poppins"/>
                <a:cs typeface="Poppins"/>
                <a:sym typeface="Poppins"/>
              </a:rPr>
              <a:t>Data Synthesis</a:t>
            </a:r>
            <a:endParaRPr/>
          </a:p>
        </p:txBody>
      </p:sp>
      <p:sp>
        <p:nvSpPr>
          <p:cNvPr id="145" name="Google Shape;145;p18"/>
          <p:cNvSpPr txBox="1"/>
          <p:nvPr/>
        </p:nvSpPr>
        <p:spPr>
          <a:xfrm>
            <a:off x="571500" y="4433887"/>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Years of fragmented monthly reports (2022–2025) were merged into a </a:t>
            </a:r>
            <a:r>
              <a:rPr lang="en-US" sz="1500" b="1" i="0" u="none" strike="noStrike" cap="none">
                <a:solidFill>
                  <a:srgbClr val="334155"/>
                </a:solidFill>
                <a:latin typeface="Lato"/>
                <a:ea typeface="Lato"/>
                <a:cs typeface="Lato"/>
                <a:sym typeface="Lato"/>
              </a:rPr>
              <a:t>unified longitudinal dataset</a:t>
            </a:r>
            <a:r>
              <a:rPr lang="en-US" sz="1500" b="0" i="0" u="none" strike="noStrike" cap="none">
                <a:solidFill>
                  <a:srgbClr val="334155"/>
                </a:solidFill>
                <a:latin typeface="Lato"/>
                <a:ea typeface="Lato"/>
                <a:cs typeface="Lato"/>
                <a:sym typeface="Lato"/>
              </a:rPr>
              <a:t>, providing a robust foundation for time-series analysis.</a:t>
            </a:r>
            <a:endParaRPr/>
          </a:p>
        </p:txBody>
      </p:sp>
      <p:pic>
        <p:nvPicPr>
          <p:cNvPr id="146" name="Google Shape;146;p18" descr="image.png"/>
          <p:cNvPicPr preferRelativeResize="0"/>
          <p:nvPr/>
        </p:nvPicPr>
        <p:blipFill rotWithShape="1">
          <a:blip r:embed="rId5">
            <a:alphaModFix/>
          </a:blip>
          <a:srcRect/>
          <a:stretch/>
        </p:blipFill>
        <p:spPr>
          <a:xfrm>
            <a:off x="6381750" y="1776412"/>
            <a:ext cx="5238750" cy="4286250"/>
          </a:xfrm>
          <a:prstGeom prst="rect">
            <a:avLst/>
          </a:prstGeom>
          <a:noFill/>
          <a:ln>
            <a:noFill/>
          </a:ln>
        </p:spPr>
      </p:pic>
      <p:sp>
        <p:nvSpPr>
          <p:cNvPr id="147" name="Google Shape;147;p18"/>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a:ea typeface="Poppins"/>
                <a:cs typeface="Poppins"/>
                <a:sym typeface="Poppins"/>
              </a:rPr>
              <a:t>STRATEGIC DATA ACQUISITION</a:t>
            </a:r>
            <a:endParaRPr/>
          </a:p>
        </p:txBody>
      </p:sp>
      <p:sp>
        <p:nvSpPr>
          <p:cNvPr id="148" name="Google Shape;148;p18"/>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2"/>
        <p:cNvGrpSpPr/>
        <p:nvPr/>
      </p:nvGrpSpPr>
      <p:grpSpPr>
        <a:xfrm>
          <a:off x="0" y="0"/>
          <a:ext cx="0" cy="0"/>
          <a:chOff x="0" y="0"/>
          <a:chExt cx="0" cy="0"/>
        </a:xfrm>
      </p:grpSpPr>
      <p:pic>
        <p:nvPicPr>
          <p:cNvPr id="153" name="Google Shape;15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4" name="Google Shape;154;p19" descr="image.png"/>
          <p:cNvPicPr preferRelativeResize="0"/>
          <p:nvPr/>
        </p:nvPicPr>
        <p:blipFill rotWithShape="1">
          <a:blip r:embed="rId4">
            <a:alphaModFix/>
          </a:blip>
          <a:srcRect/>
          <a:stretch/>
        </p:blipFill>
        <p:spPr>
          <a:xfrm>
            <a:off x="571500" y="1900237"/>
            <a:ext cx="3492549" cy="4038600"/>
          </a:xfrm>
          <a:prstGeom prst="rect">
            <a:avLst/>
          </a:prstGeom>
          <a:noFill/>
          <a:ln>
            <a:noFill/>
          </a:ln>
        </p:spPr>
      </p:pic>
      <p:pic>
        <p:nvPicPr>
          <p:cNvPr id="155" name="Google Shape;155;p19" descr="image.png"/>
          <p:cNvPicPr preferRelativeResize="0"/>
          <p:nvPr/>
        </p:nvPicPr>
        <p:blipFill rotWithShape="1">
          <a:blip r:embed="rId5">
            <a:alphaModFix/>
          </a:blip>
          <a:srcRect/>
          <a:stretch/>
        </p:blipFill>
        <p:spPr>
          <a:xfrm>
            <a:off x="4349799" y="1900237"/>
            <a:ext cx="3492549" cy="4038600"/>
          </a:xfrm>
          <a:prstGeom prst="rect">
            <a:avLst/>
          </a:prstGeom>
          <a:noFill/>
          <a:ln>
            <a:noFill/>
          </a:ln>
        </p:spPr>
      </p:pic>
      <p:pic>
        <p:nvPicPr>
          <p:cNvPr id="156" name="Google Shape;156;p19" descr="image.png"/>
          <p:cNvPicPr preferRelativeResize="0"/>
          <p:nvPr/>
        </p:nvPicPr>
        <p:blipFill rotWithShape="1">
          <a:blip r:embed="rId6">
            <a:alphaModFix/>
          </a:blip>
          <a:srcRect/>
          <a:stretch/>
        </p:blipFill>
        <p:spPr>
          <a:xfrm>
            <a:off x="8128099" y="1900237"/>
            <a:ext cx="3492549" cy="4038600"/>
          </a:xfrm>
          <a:prstGeom prst="rect">
            <a:avLst/>
          </a:prstGeom>
          <a:noFill/>
          <a:ln>
            <a:noFill/>
          </a:ln>
        </p:spPr>
      </p:pic>
      <p:sp>
        <p:nvSpPr>
          <p:cNvPr id="157" name="Google Shape;157;p19"/>
          <p:cNvSpPr txBox="1"/>
          <p:nvPr/>
        </p:nvSpPr>
        <p:spPr>
          <a:xfrm>
            <a:off x="952500" y="2986087"/>
            <a:ext cx="2867077"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147"/>
                </a:solidFill>
                <a:latin typeface="Poppins"/>
                <a:ea typeface="Poppins"/>
                <a:cs typeface="Poppins"/>
                <a:sym typeface="Poppins"/>
              </a:rPr>
              <a:t>Dataset Augmentation</a:t>
            </a:r>
            <a:endParaRPr/>
          </a:p>
        </p:txBody>
      </p:sp>
      <p:sp>
        <p:nvSpPr>
          <p:cNvPr id="158" name="Google Shape;158;p19"/>
          <p:cNvSpPr txBox="1"/>
          <p:nvPr/>
        </p:nvSpPr>
        <p:spPr>
          <a:xfrm>
            <a:off x="952500" y="3843337"/>
            <a:ext cx="273054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Generation of temporal features including seasonality, weekday patterns, and peak hour distributions to overcome raw data limitations.</a:t>
            </a:r>
            <a:endParaRPr/>
          </a:p>
        </p:txBody>
      </p:sp>
      <p:sp>
        <p:nvSpPr>
          <p:cNvPr id="159" name="Google Shape;159;p19"/>
          <p:cNvSpPr txBox="1"/>
          <p:nvPr/>
        </p:nvSpPr>
        <p:spPr>
          <a:xfrm>
            <a:off x="4730799" y="2986087"/>
            <a:ext cx="286707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147"/>
                </a:solidFill>
                <a:latin typeface="Poppins"/>
                <a:ea typeface="Poppins"/>
                <a:cs typeface="Poppins"/>
                <a:sym typeface="Poppins"/>
              </a:rPr>
              <a:t>Target Refinement</a:t>
            </a:r>
            <a:endParaRPr/>
          </a:p>
        </p:txBody>
      </p:sp>
      <p:sp>
        <p:nvSpPr>
          <p:cNvPr id="160" name="Google Shape;160;p19"/>
          <p:cNvSpPr txBox="1"/>
          <p:nvPr/>
        </p:nvSpPr>
        <p:spPr>
          <a:xfrm>
            <a:off x="4730799" y="3509962"/>
            <a:ext cx="273054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Adapted model variables (Delay vs. Cancellation) to align precisely with the specific distribution of extracted CAA data.</a:t>
            </a:r>
            <a:endParaRPr/>
          </a:p>
        </p:txBody>
      </p:sp>
      <p:sp>
        <p:nvSpPr>
          <p:cNvPr id="161" name="Google Shape;161;p19"/>
          <p:cNvSpPr txBox="1"/>
          <p:nvPr/>
        </p:nvSpPr>
        <p:spPr>
          <a:xfrm>
            <a:off x="8509099" y="2986087"/>
            <a:ext cx="286707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147"/>
                </a:solidFill>
                <a:latin typeface="Poppins"/>
                <a:ea typeface="Poppins"/>
                <a:cs typeface="Poppins"/>
                <a:sym typeface="Poppins"/>
              </a:rPr>
              <a:t>Exp. Architecture</a:t>
            </a:r>
            <a:endParaRPr/>
          </a:p>
        </p:txBody>
      </p:sp>
      <p:sp>
        <p:nvSpPr>
          <p:cNvPr id="162" name="Google Shape;162;p19"/>
          <p:cNvSpPr txBox="1"/>
          <p:nvPr/>
        </p:nvSpPr>
        <p:spPr>
          <a:xfrm>
            <a:off x="8509099" y="3509962"/>
            <a:ext cx="2730549"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Iterative testing of multiple models with flexible categorical encoding for high-accuracy route predictability.</a:t>
            </a:r>
            <a:endParaRPr/>
          </a:p>
        </p:txBody>
      </p:sp>
      <p:pic>
        <p:nvPicPr>
          <p:cNvPr id="163" name="Google Shape;163;p19" descr="image.png"/>
          <p:cNvPicPr preferRelativeResize="0"/>
          <p:nvPr/>
        </p:nvPicPr>
        <p:blipFill rotWithShape="1">
          <a:blip r:embed="rId7">
            <a:alphaModFix/>
          </a:blip>
          <a:srcRect/>
          <a:stretch/>
        </p:blipFill>
        <p:spPr>
          <a:xfrm>
            <a:off x="952500" y="2376487"/>
            <a:ext cx="381000" cy="381000"/>
          </a:xfrm>
          <a:prstGeom prst="rect">
            <a:avLst/>
          </a:prstGeom>
          <a:noFill/>
          <a:ln>
            <a:noFill/>
          </a:ln>
        </p:spPr>
      </p:pic>
      <p:pic>
        <p:nvPicPr>
          <p:cNvPr id="164" name="Google Shape;164;p19" descr="image.png"/>
          <p:cNvPicPr preferRelativeResize="0"/>
          <p:nvPr/>
        </p:nvPicPr>
        <p:blipFill rotWithShape="1">
          <a:blip r:embed="rId8">
            <a:alphaModFix/>
          </a:blip>
          <a:srcRect/>
          <a:stretch/>
        </p:blipFill>
        <p:spPr>
          <a:xfrm>
            <a:off x="4730799" y="2376487"/>
            <a:ext cx="381000" cy="381000"/>
          </a:xfrm>
          <a:prstGeom prst="rect">
            <a:avLst/>
          </a:prstGeom>
          <a:noFill/>
          <a:ln>
            <a:noFill/>
          </a:ln>
        </p:spPr>
      </p:pic>
      <p:pic>
        <p:nvPicPr>
          <p:cNvPr id="165" name="Google Shape;165;p19" descr="image.png"/>
          <p:cNvPicPr preferRelativeResize="0"/>
          <p:nvPr/>
        </p:nvPicPr>
        <p:blipFill rotWithShape="1">
          <a:blip r:embed="rId9">
            <a:alphaModFix/>
          </a:blip>
          <a:srcRect/>
          <a:stretch/>
        </p:blipFill>
        <p:spPr>
          <a:xfrm>
            <a:off x="8509099" y="2376487"/>
            <a:ext cx="333375" cy="381000"/>
          </a:xfrm>
          <a:prstGeom prst="rect">
            <a:avLst/>
          </a:prstGeom>
          <a:noFill/>
          <a:ln>
            <a:noFill/>
          </a:ln>
        </p:spPr>
      </p:pic>
      <p:sp>
        <p:nvSpPr>
          <p:cNvPr id="166" name="Google Shape;166;p19"/>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a:ea typeface="Poppins"/>
                <a:cs typeface="Poppins"/>
                <a:sym typeface="Poppins"/>
              </a:rPr>
              <a:t>FEATURE ENGINEERING &amp; TARGET ADAPTATION</a:t>
            </a:r>
            <a:endParaRPr/>
          </a:p>
        </p:txBody>
      </p:sp>
      <p:sp>
        <p:nvSpPr>
          <p:cNvPr id="167" name="Google Shape;167;p19"/>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pic>
        <p:nvPicPr>
          <p:cNvPr id="172" name="Google Shape;172;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3" name="Google Shape;173;p20" descr="image.png"/>
          <p:cNvPicPr preferRelativeResize="0"/>
          <p:nvPr/>
        </p:nvPicPr>
        <p:blipFill rotWithShape="1">
          <a:blip r:embed="rId4">
            <a:alphaModFix/>
          </a:blip>
          <a:srcRect/>
          <a:stretch/>
        </p:blipFill>
        <p:spPr>
          <a:xfrm>
            <a:off x="571500" y="1552575"/>
            <a:ext cx="11049000" cy="4733925"/>
          </a:xfrm>
          <a:prstGeom prst="rect">
            <a:avLst/>
          </a:prstGeom>
          <a:noFill/>
          <a:ln>
            <a:noFill/>
          </a:ln>
        </p:spPr>
      </p:pic>
      <p:sp>
        <p:nvSpPr>
          <p:cNvPr id="174" name="Google Shape;174;p20"/>
          <p:cNvSpPr txBox="1"/>
          <p:nvPr/>
        </p:nvSpPr>
        <p:spPr>
          <a:xfrm>
            <a:off x="571500" y="2187922"/>
            <a:ext cx="11049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Predictability score across different route categories (based on historical correlation analysis):</a:t>
            </a:r>
            <a:endParaRPr/>
          </a:p>
        </p:txBody>
      </p:sp>
      <p:sp>
        <p:nvSpPr>
          <p:cNvPr id="175" name="Google Shape;175;p20"/>
          <p:cNvSpPr txBox="1"/>
          <p:nvPr/>
        </p:nvSpPr>
        <p:spPr>
          <a:xfrm>
            <a:off x="571500" y="5445472"/>
            <a:ext cx="110490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1" u="none" strike="noStrike" cap="none">
                <a:solidFill>
                  <a:srgbClr val="64748B"/>
                </a:solidFill>
                <a:latin typeface="Lato"/>
                <a:ea typeface="Lato"/>
                <a:cs typeface="Lato"/>
                <a:sym typeface="Lato"/>
              </a:rPr>
              <a:t>*Data synthesized from merged CAA reports (2022-2025) for EDA validation.</a:t>
            </a:r>
            <a:endParaRPr/>
          </a:p>
        </p:txBody>
      </p:sp>
      <p:sp>
        <p:nvSpPr>
          <p:cNvPr id="176" name="Google Shape;176;p20"/>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a:ea typeface="Poppins"/>
                <a:cs typeface="Poppins"/>
                <a:sym typeface="Poppins"/>
              </a:rPr>
              <a:t>EDA: OPERATIONAL RISK DRIVERS</a:t>
            </a:r>
            <a:endParaRPr/>
          </a:p>
        </p:txBody>
      </p:sp>
      <p:sp>
        <p:nvSpPr>
          <p:cNvPr id="177" name="Google Shape;177;p20"/>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pic>
        <p:nvPicPr>
          <p:cNvPr id="182" name="Google Shape;182;p21" descr="image.png"/>
          <p:cNvPicPr preferRelativeResize="0"/>
          <p:nvPr/>
        </p:nvPicPr>
        <p:blipFill rotWithShape="1">
          <a:blip r:embed="rId3">
            <a:alphaModFix/>
          </a:blip>
          <a:srcRect/>
          <a:stretch/>
        </p:blipFill>
        <p:spPr>
          <a:xfrm>
            <a:off x="0" y="664028"/>
            <a:ext cx="12192000" cy="6858000"/>
          </a:xfrm>
          <a:prstGeom prst="rect">
            <a:avLst/>
          </a:prstGeom>
          <a:noFill/>
          <a:ln>
            <a:noFill/>
          </a:ln>
        </p:spPr>
      </p:pic>
      <p:sp>
        <p:nvSpPr>
          <p:cNvPr id="183" name="Google Shape;183;p21"/>
          <p:cNvSpPr txBox="1"/>
          <p:nvPr/>
        </p:nvSpPr>
        <p:spPr>
          <a:xfrm>
            <a:off x="295275" y="571500"/>
            <a:ext cx="11601450" cy="1028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00A3AD"/>
                </a:solidFill>
                <a:latin typeface="Poppins"/>
                <a:ea typeface="Poppins"/>
                <a:cs typeface="Poppins"/>
                <a:sym typeface="Poppins"/>
              </a:rPr>
              <a:t>OUTPUT &amp; IMPACT</a:t>
            </a:r>
            <a:endParaRPr/>
          </a:p>
        </p:txBody>
      </p:sp>
      <p:sp>
        <p:nvSpPr>
          <p:cNvPr id="184" name="Google Shape;184;p21"/>
          <p:cNvSpPr/>
          <p:nvPr/>
        </p:nvSpPr>
        <p:spPr>
          <a:xfrm>
            <a:off x="5381625" y="1600200"/>
            <a:ext cx="1428750" cy="76200"/>
          </a:xfrm>
          <a:prstGeom prst="rect">
            <a:avLst/>
          </a:prstGeom>
          <a:solidFill>
            <a:srgbClr val="002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21"/>
          <p:cNvSpPr txBox="1"/>
          <p:nvPr/>
        </p:nvSpPr>
        <p:spPr>
          <a:xfrm>
            <a:off x="1264401" y="1982374"/>
            <a:ext cx="9663198" cy="1107996"/>
          </a:xfrm>
          <a:prstGeom prst="rect">
            <a:avLst/>
          </a:prstGeom>
          <a:noFill/>
          <a:ln>
            <a:noFill/>
          </a:ln>
        </p:spPr>
        <p:txBody>
          <a:bodyPr spcFirstLastPara="1" wrap="square" lIns="0" tIns="0" rIns="0" bIns="0" anchor="t" anchorCtr="0">
            <a:spAutoFit/>
          </a:bodyPr>
          <a:lstStyle/>
          <a:p>
            <a:r>
              <a:rPr lang="en-US" sz="1800" dirty="0"/>
              <a:t>Our output consists of two specialized models that predict delay and cancellation risks based on the historical performance of specific airline routes during the month of travel. These insights are delivered through a </a:t>
            </a:r>
            <a:r>
              <a:rPr lang="en-US" sz="1800" dirty="0" err="1"/>
              <a:t>Streamlit</a:t>
            </a:r>
            <a:r>
              <a:rPr lang="en-US" sz="1800" dirty="0"/>
              <a:t> application, allowing users to input their flight details and receive an immediate operational risk score.</a:t>
            </a:r>
            <a:endParaRPr lang="pt-BR" sz="1800" dirty="0"/>
          </a:p>
        </p:txBody>
      </p:sp>
      <p:pic>
        <p:nvPicPr>
          <p:cNvPr id="3" name="Imagem 2" descr="Tela de celular com aplicativo aberto&#10;&#10;O conteúdo gerado por IA pode estar incorreto.">
            <a:extLst>
              <a:ext uri="{FF2B5EF4-FFF2-40B4-BE49-F238E27FC236}">
                <a16:creationId xmlns:a16="http://schemas.microsoft.com/office/drawing/2014/main" id="{481E8E50-07DA-6C4D-C775-159889902BA7}"/>
              </a:ext>
            </a:extLst>
          </p:cNvPr>
          <p:cNvPicPr>
            <a:picLocks noChangeAspect="1"/>
          </p:cNvPicPr>
          <p:nvPr/>
        </p:nvPicPr>
        <p:blipFill>
          <a:blip r:embed="rId4"/>
          <a:stretch>
            <a:fillRect/>
          </a:stretch>
        </p:blipFill>
        <p:spPr>
          <a:xfrm>
            <a:off x="2548086" y="3635828"/>
            <a:ext cx="7095828" cy="29615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9"/>
        <p:cNvGrpSpPr/>
        <p:nvPr/>
      </p:nvGrpSpPr>
      <p:grpSpPr>
        <a:xfrm>
          <a:off x="0" y="0"/>
          <a:ext cx="0" cy="0"/>
          <a:chOff x="0" y="0"/>
          <a:chExt cx="0" cy="0"/>
        </a:xfrm>
      </p:grpSpPr>
      <p:pic>
        <p:nvPicPr>
          <p:cNvPr id="190" name="Google Shape;190;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1" name="Google Shape;191;p22"/>
          <p:cNvSpPr txBox="1"/>
          <p:nvPr/>
        </p:nvSpPr>
        <p:spPr>
          <a:xfrm>
            <a:off x="952500" y="762000"/>
            <a:ext cx="9192986"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2147"/>
                </a:solidFill>
                <a:latin typeface="Poppins"/>
                <a:ea typeface="Poppins"/>
                <a:cs typeface="Poppins"/>
                <a:sym typeface="Poppins"/>
              </a:rPr>
              <a:t>PREDICTIVE INTELLIGENCE OUTPUT</a:t>
            </a:r>
            <a:endParaRPr dirty="0"/>
          </a:p>
        </p:txBody>
      </p:sp>
      <p:sp>
        <p:nvSpPr>
          <p:cNvPr id="192" name="Google Shape;192;p22"/>
          <p:cNvSpPr/>
          <p:nvPr/>
        </p:nvSpPr>
        <p:spPr>
          <a:xfrm>
            <a:off x="762000" y="762001"/>
            <a:ext cx="76200" cy="484747"/>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22"/>
          <p:cNvSpPr txBox="1"/>
          <p:nvPr/>
        </p:nvSpPr>
        <p:spPr>
          <a:xfrm>
            <a:off x="1266825" y="5633357"/>
            <a:ext cx="4143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Delay Prediction:</a:t>
            </a:r>
            <a:r>
              <a:rPr lang="en-US" sz="1500" b="0" i="0" u="none" strike="noStrike" cap="none" dirty="0">
                <a:solidFill>
                  <a:srgbClr val="334155"/>
                </a:solidFill>
                <a:latin typeface="Lato"/>
                <a:ea typeface="Lato"/>
                <a:cs typeface="Lato"/>
                <a:sym typeface="Lato"/>
              </a:rPr>
              <a:t> Estimated based on route history and temporal features.</a:t>
            </a:r>
            <a:endParaRPr dirty="0"/>
          </a:p>
        </p:txBody>
      </p:sp>
      <p:sp>
        <p:nvSpPr>
          <p:cNvPr id="197" name="Google Shape;197;p22"/>
          <p:cNvSpPr txBox="1"/>
          <p:nvPr/>
        </p:nvSpPr>
        <p:spPr>
          <a:xfrm>
            <a:off x="7547883" y="5633357"/>
            <a:ext cx="4143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Lato"/>
                <a:ea typeface="Lato"/>
                <a:cs typeface="Lato"/>
                <a:sym typeface="Lato"/>
              </a:rPr>
              <a:t>Cancellation Risk:</a:t>
            </a:r>
            <a:r>
              <a:rPr lang="en-US" sz="1500" b="0" i="0" u="none" strike="noStrike" cap="none" dirty="0">
                <a:solidFill>
                  <a:srgbClr val="334155"/>
                </a:solidFill>
                <a:latin typeface="Lato"/>
                <a:ea typeface="Lato"/>
                <a:cs typeface="Lato"/>
                <a:sym typeface="Lato"/>
              </a:rPr>
              <a:t> Specialized scoring for airline operational stability.</a:t>
            </a:r>
            <a:endParaRPr dirty="0"/>
          </a:p>
        </p:txBody>
      </p:sp>
      <p:pic>
        <p:nvPicPr>
          <p:cNvPr id="198" name="Google Shape;198;p22" descr="image.png"/>
          <p:cNvPicPr preferRelativeResize="0"/>
          <p:nvPr/>
        </p:nvPicPr>
        <p:blipFill rotWithShape="1">
          <a:blip r:embed="rId4">
            <a:alphaModFix/>
          </a:blip>
          <a:srcRect/>
          <a:stretch/>
        </p:blipFill>
        <p:spPr>
          <a:xfrm>
            <a:off x="838200" y="5671457"/>
            <a:ext cx="228600" cy="247650"/>
          </a:xfrm>
          <a:prstGeom prst="rect">
            <a:avLst/>
          </a:prstGeom>
          <a:noFill/>
          <a:ln>
            <a:noFill/>
          </a:ln>
        </p:spPr>
      </p:pic>
      <p:pic>
        <p:nvPicPr>
          <p:cNvPr id="199" name="Google Shape;199;p22" descr="image.png"/>
          <p:cNvPicPr preferRelativeResize="0"/>
          <p:nvPr/>
        </p:nvPicPr>
        <p:blipFill rotWithShape="1">
          <a:blip r:embed="rId5">
            <a:alphaModFix/>
          </a:blip>
          <a:srcRect/>
          <a:stretch/>
        </p:blipFill>
        <p:spPr>
          <a:xfrm>
            <a:off x="7162800" y="5690507"/>
            <a:ext cx="171450" cy="247650"/>
          </a:xfrm>
          <a:prstGeom prst="rect">
            <a:avLst/>
          </a:prstGeom>
          <a:noFill/>
          <a:ln>
            <a:noFill/>
          </a:ln>
        </p:spPr>
      </p:pic>
      <p:pic>
        <p:nvPicPr>
          <p:cNvPr id="3" name="Imagem 2" descr="Tela de celular com aplicativo aberto&#10;&#10;O conteúdo gerado por IA pode estar incorreto.">
            <a:extLst>
              <a:ext uri="{FF2B5EF4-FFF2-40B4-BE49-F238E27FC236}">
                <a16:creationId xmlns:a16="http://schemas.microsoft.com/office/drawing/2014/main" id="{78333D57-7BC0-DF8C-A401-0CF72694942C}"/>
              </a:ext>
            </a:extLst>
          </p:cNvPr>
          <p:cNvPicPr>
            <a:picLocks noChangeAspect="1"/>
          </p:cNvPicPr>
          <p:nvPr/>
        </p:nvPicPr>
        <p:blipFill>
          <a:blip r:embed="rId6"/>
          <a:stretch>
            <a:fillRect/>
          </a:stretch>
        </p:blipFill>
        <p:spPr>
          <a:xfrm>
            <a:off x="2374779" y="1653877"/>
            <a:ext cx="7442441" cy="35502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pic>
        <p:nvPicPr>
          <p:cNvPr id="204" name="Google Shape;204;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5" name="Google Shape;205;p23" descr="image.png"/>
          <p:cNvPicPr preferRelativeResize="0"/>
          <p:nvPr/>
        </p:nvPicPr>
        <p:blipFill rotWithShape="1">
          <a:blip r:embed="rId4">
            <a:alphaModFix/>
          </a:blip>
          <a:srcRect/>
          <a:stretch/>
        </p:blipFill>
        <p:spPr>
          <a:xfrm>
            <a:off x="6381750" y="2543175"/>
            <a:ext cx="5238750" cy="2752725"/>
          </a:xfrm>
          <a:prstGeom prst="rect">
            <a:avLst/>
          </a:prstGeom>
          <a:noFill/>
          <a:ln>
            <a:noFill/>
          </a:ln>
        </p:spPr>
      </p:pic>
      <p:sp>
        <p:nvSpPr>
          <p:cNvPr id="206" name="Google Shape;206;p23"/>
          <p:cNvSpPr txBox="1"/>
          <p:nvPr/>
        </p:nvSpPr>
        <p:spPr>
          <a:xfrm>
            <a:off x="6762750" y="2981325"/>
            <a:ext cx="470058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A3AD"/>
                </a:solidFill>
                <a:latin typeface="Poppins"/>
                <a:ea typeface="Poppins"/>
                <a:cs typeface="Poppins"/>
                <a:sym typeface="Poppins"/>
              </a:rPr>
              <a:t>Summary</a:t>
            </a:r>
            <a:endParaRPr/>
          </a:p>
        </p:txBody>
      </p:sp>
      <p:sp>
        <p:nvSpPr>
          <p:cNvPr id="207" name="Google Shape;207;p23"/>
          <p:cNvSpPr txBox="1"/>
          <p:nvPr/>
        </p:nvSpPr>
        <p:spPr>
          <a:xfrm>
            <a:off x="6762750" y="3505200"/>
            <a:ext cx="44767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Lato"/>
                <a:ea typeface="Lato"/>
                <a:cs typeface="Lato"/>
                <a:sym typeface="Lato"/>
              </a:rPr>
              <a:t>This solution bridges the gap between high-cost data and the everyday consumer’s need for certainty, creating a major opportunity for operational efficiency and revenue growth.</a:t>
            </a:r>
            <a:endParaRPr/>
          </a:p>
        </p:txBody>
      </p:sp>
      <p:sp>
        <p:nvSpPr>
          <p:cNvPr id="208" name="Google Shape;208;p23"/>
          <p:cNvSpPr txBox="1"/>
          <p:nvPr/>
        </p:nvSpPr>
        <p:spPr>
          <a:xfrm>
            <a:off x="1000125" y="2724150"/>
            <a:ext cx="48101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a:ea typeface="Lato"/>
                <a:cs typeface="Lato"/>
                <a:sym typeface="Lato"/>
              </a:rPr>
              <a:t>Reduce Disruptions:</a:t>
            </a:r>
            <a:r>
              <a:rPr lang="en-US" sz="1500" b="0" i="0" u="none" strike="noStrike" cap="none">
                <a:solidFill>
                  <a:srgbClr val="334155"/>
                </a:solidFill>
                <a:latin typeface="Lato"/>
                <a:ea typeface="Lato"/>
                <a:cs typeface="Lato"/>
                <a:sym typeface="Lato"/>
              </a:rPr>
              <a:t> Empowers business travelers to avoid high-risk routes proactively.</a:t>
            </a:r>
            <a:endParaRPr/>
          </a:p>
        </p:txBody>
      </p:sp>
      <p:sp>
        <p:nvSpPr>
          <p:cNvPr id="209" name="Google Shape;209;p23"/>
          <p:cNvSpPr txBox="1"/>
          <p:nvPr/>
        </p:nvSpPr>
        <p:spPr>
          <a:xfrm>
            <a:off x="1000125" y="3571875"/>
            <a:ext cx="48101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a:ea typeface="Lato"/>
                <a:cs typeface="Lato"/>
                <a:sym typeface="Lato"/>
              </a:rPr>
              <a:t>Optimize Insurance:</a:t>
            </a:r>
            <a:r>
              <a:rPr lang="en-US" sz="1500" b="0" i="0" u="none" strike="noStrike" cap="none">
                <a:solidFill>
                  <a:srgbClr val="334155"/>
                </a:solidFill>
                <a:latin typeface="Lato"/>
                <a:ea typeface="Lato"/>
                <a:cs typeface="Lato"/>
                <a:sym typeface="Lato"/>
              </a:rPr>
              <a:t> Drives sales through targeted, data-backed risk recommendations.</a:t>
            </a:r>
            <a:endParaRPr/>
          </a:p>
        </p:txBody>
      </p:sp>
      <p:sp>
        <p:nvSpPr>
          <p:cNvPr id="210" name="Google Shape;210;p23"/>
          <p:cNvSpPr txBox="1"/>
          <p:nvPr/>
        </p:nvSpPr>
        <p:spPr>
          <a:xfrm>
            <a:off x="1000125" y="4419600"/>
            <a:ext cx="48101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a:ea typeface="Lato"/>
                <a:cs typeface="Lato"/>
                <a:sym typeface="Lato"/>
              </a:rPr>
              <a:t>Bridge the Data Gap:</a:t>
            </a:r>
            <a:r>
              <a:rPr lang="en-US" sz="1500" b="0" i="0" u="none" strike="noStrike" cap="none">
                <a:solidFill>
                  <a:srgbClr val="334155"/>
                </a:solidFill>
                <a:latin typeface="Lato"/>
                <a:ea typeface="Lato"/>
                <a:cs typeface="Lato"/>
                <a:sym typeface="Lato"/>
              </a:rPr>
              <a:t> Connects low-cost public data with high-value consumer needs for certainty.</a:t>
            </a:r>
            <a:endParaRPr/>
          </a:p>
        </p:txBody>
      </p:sp>
      <p:pic>
        <p:nvPicPr>
          <p:cNvPr id="211" name="Google Shape;211;p23" descr="image.png"/>
          <p:cNvPicPr preferRelativeResize="0"/>
          <p:nvPr/>
        </p:nvPicPr>
        <p:blipFill rotWithShape="1">
          <a:blip r:embed="rId5">
            <a:alphaModFix/>
          </a:blip>
          <a:srcRect/>
          <a:stretch/>
        </p:blipFill>
        <p:spPr>
          <a:xfrm>
            <a:off x="571500" y="2762250"/>
            <a:ext cx="228600" cy="247650"/>
          </a:xfrm>
          <a:prstGeom prst="rect">
            <a:avLst/>
          </a:prstGeom>
          <a:noFill/>
          <a:ln>
            <a:noFill/>
          </a:ln>
        </p:spPr>
      </p:pic>
      <p:pic>
        <p:nvPicPr>
          <p:cNvPr id="212" name="Google Shape;212;p23" descr="image.png"/>
          <p:cNvPicPr preferRelativeResize="0"/>
          <p:nvPr/>
        </p:nvPicPr>
        <p:blipFill rotWithShape="1">
          <a:blip r:embed="rId6">
            <a:alphaModFix/>
          </a:blip>
          <a:srcRect/>
          <a:stretch/>
        </p:blipFill>
        <p:spPr>
          <a:xfrm>
            <a:off x="571500" y="3609975"/>
            <a:ext cx="228600" cy="247650"/>
          </a:xfrm>
          <a:prstGeom prst="rect">
            <a:avLst/>
          </a:prstGeom>
          <a:noFill/>
          <a:ln>
            <a:noFill/>
          </a:ln>
        </p:spPr>
      </p:pic>
      <p:pic>
        <p:nvPicPr>
          <p:cNvPr id="213" name="Google Shape;213;p23" descr="image.png"/>
          <p:cNvPicPr preferRelativeResize="0"/>
          <p:nvPr/>
        </p:nvPicPr>
        <p:blipFill rotWithShape="1">
          <a:blip r:embed="rId7">
            <a:alphaModFix/>
          </a:blip>
          <a:srcRect/>
          <a:stretch/>
        </p:blipFill>
        <p:spPr>
          <a:xfrm>
            <a:off x="571500" y="4457700"/>
            <a:ext cx="257175" cy="247650"/>
          </a:xfrm>
          <a:prstGeom prst="rect">
            <a:avLst/>
          </a:prstGeom>
          <a:noFill/>
          <a:ln>
            <a:noFill/>
          </a:ln>
        </p:spPr>
      </p:pic>
      <p:sp>
        <p:nvSpPr>
          <p:cNvPr id="214" name="Google Shape;214;p23"/>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a:ea typeface="Poppins"/>
                <a:cs typeface="Poppins"/>
                <a:sym typeface="Poppins"/>
              </a:rPr>
              <a:t>THE VALUE PROPOSITION</a:t>
            </a:r>
            <a:endParaRPr/>
          </a:p>
        </p:txBody>
      </p:sp>
      <p:sp>
        <p:nvSpPr>
          <p:cNvPr id="215" name="Google Shape;215;p23"/>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9"/>
        <p:cNvGrpSpPr/>
        <p:nvPr/>
      </p:nvGrpSpPr>
      <p:grpSpPr>
        <a:xfrm>
          <a:off x="0" y="0"/>
          <a:ext cx="0" cy="0"/>
          <a:chOff x="0" y="0"/>
          <a:chExt cx="0" cy="0"/>
        </a:xfrm>
      </p:grpSpPr>
      <p:pic>
        <p:nvPicPr>
          <p:cNvPr id="220" name="Google Shape;220;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1" name="Google Shape;221;p24" descr="image.png"/>
          <p:cNvPicPr preferRelativeResize="0"/>
          <p:nvPr/>
        </p:nvPicPr>
        <p:blipFill rotWithShape="1">
          <a:blip r:embed="rId4">
            <a:alphaModFix/>
          </a:blip>
          <a:srcRect/>
          <a:stretch/>
        </p:blipFill>
        <p:spPr>
          <a:xfrm>
            <a:off x="2476500" y="-1333500"/>
            <a:ext cx="5715000" cy="2301329"/>
          </a:xfrm>
          <a:prstGeom prst="rect">
            <a:avLst/>
          </a:prstGeom>
          <a:noFill/>
          <a:ln>
            <a:noFill/>
          </a:ln>
        </p:spPr>
      </p:pic>
      <p:sp>
        <p:nvSpPr>
          <p:cNvPr id="222" name="Google Shape;222;p24"/>
          <p:cNvSpPr txBox="1"/>
          <p:nvPr/>
        </p:nvSpPr>
        <p:spPr>
          <a:xfrm>
            <a:off x="571500" y="5791200"/>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Flight Risk | Analytics &amp; Data Science Solution</a:t>
            </a:r>
            <a:endParaRPr/>
          </a:p>
        </p:txBody>
      </p:sp>
      <p:sp>
        <p:nvSpPr>
          <p:cNvPr id="223" name="Google Shape;223;p24"/>
          <p:cNvSpPr txBox="1"/>
          <p:nvPr/>
        </p:nvSpPr>
        <p:spPr>
          <a:xfrm>
            <a:off x="295275" y="2872829"/>
            <a:ext cx="1160145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A3AD"/>
                </a:solidFill>
                <a:latin typeface="Poppins"/>
                <a:ea typeface="Poppins"/>
                <a:cs typeface="Poppins"/>
                <a:sym typeface="Poppins"/>
              </a:rPr>
              <a:t>THANK YOU</a:t>
            </a:r>
            <a:endParaRPr/>
          </a:p>
        </p:txBody>
      </p:sp>
      <p:sp>
        <p:nvSpPr>
          <p:cNvPr id="224" name="Google Shape;224;p24"/>
          <p:cNvSpPr txBox="1"/>
          <p:nvPr/>
        </p:nvSpPr>
        <p:spPr>
          <a:xfrm>
            <a:off x="571500" y="4434929"/>
            <a:ext cx="11049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FFFFFF"/>
                </a:solidFill>
                <a:latin typeface="Lato"/>
                <a:ea typeface="Lato"/>
                <a:cs typeface="Lato"/>
                <a:sym typeface="Lato"/>
              </a:rPr>
              <a:t>Predicting the future of flight risk.</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467</Words>
  <Application>Microsoft Office PowerPoint</Application>
  <PresentationFormat>Widescreen</PresentationFormat>
  <Paragraphs>46</Paragraphs>
  <Slides>12</Slides>
  <Notes>12</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vt:i4>
      </vt:variant>
    </vt:vector>
  </HeadingPairs>
  <TitlesOfParts>
    <vt:vector size="17" baseType="lpstr">
      <vt:lpstr>Calibri</vt:lpstr>
      <vt:lpstr>Arial</vt:lpstr>
      <vt:lpstr>Lato</vt:lpstr>
      <vt:lpstr>Poppins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Juliano Costa</cp:lastModifiedBy>
  <cp:revision>4</cp:revision>
  <dcterms:modified xsi:type="dcterms:W3CDTF">2026-01-26T11:54:33Z</dcterms:modified>
</cp:coreProperties>
</file>